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03320"/>
            <a:ext cx="12191695" cy="54864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环贸智答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面向多行业销售与客服坐席的 AI 话术副驾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542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9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覆盖售前咨询 · 售中跟进 · 售后纠纷全链路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2999232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让不懂外语、不熟悉各国法规的坐席，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也能在 1 分钟内给出有依据、不违规的专业回复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0160" y="4709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参赛队伍：【按报名信息填】     所属单位：【按报名信息填】</a:t>
            </a:r>
            <a:endParaRPr lang="en-US" sz="12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汇报人：【姓名】     平台：百度千帆 AppBuilder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5760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首个验证场景：汉正街跨境售后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按评审建议的顺序组织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一、实际问题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1280160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我们解决谁的什么痛点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88366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8366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二、解决方案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1883664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产品形态与整体链路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487168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8716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三、创新点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2487168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六个创新点，凭什么更好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090672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FF4E5"/>
          </a:solidFill>
          <a:ln w="15240">
            <a:solidFill>
              <a:srgbClr val="E08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9067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四、MVP 演示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3090672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完整可运行的真实系统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694176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9417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五、实际效果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49040" y="3694176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实测数据与已知边界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297680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9768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六、本地化适配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297680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硚口区产业带适配方案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901184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0118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七、资源对接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49040" y="4901184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辖区政务与企业资源路径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5504688"/>
            <a:ext cx="10835640" cy="512064"/>
          </a:xfrm>
          <a:prstGeom prst="roundRect">
            <a:avLst>
              <a:gd name="adj" fmla="val 8929"/>
            </a:avLst>
          </a:prstGeom>
          <a:solidFill>
            <a:srgbClr val="F2F5F9"/>
          </a:solidFill>
          <a:ln w="762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50468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八、落地计划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49040" y="5504688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从试点到规模化的三阶段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21792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橙色为本次路演的重点章节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一、实际问题 · 三座山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销售与客服坐席同时被三种约束夹住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48056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困境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客户消息夹杂外语、行业术语与口语化表达；一个坐席同时开 5~10 个会话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复制到翻译软件再切回来，来回切窗口必然拖慢响应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不同国家、不同平台、不同行业的售后与合规要求各不相同（欧盟撤回权、澳洲重大故障…）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凭经验回复，一句话说错就是差评、平台介入、限流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售前问规格材质、售中催发货改地址、售后退换货要说法，都要重新组织语言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响应慢、口径乱、新人上手难、合规风险靠运气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120640"/>
            <a:ext cx="10552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真实链路在各行业一致：AI 客服先接待 → 解决不了转人工 → 人工坐席接手。而通用工具给不出可直接发送的内容。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一、实际问题 · 一个真实场景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澳大利亚买家发来一句话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5840" y="1325880"/>
            <a:ext cx="10149840" cy="1325880"/>
          </a:xfrm>
          <a:prstGeom prst="roundRect">
            <a:avLst>
              <a:gd name="adj" fmla="val 5517"/>
            </a:avLst>
          </a:prstGeom>
          <a:solidFill>
            <a:srgbClr val="F0F5FC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325880"/>
            <a:ext cx="9692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"Hi, my jacket's zipper broke the first time I used it.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AU-90117-amazon. I want a replacement."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坐席的三个疑问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这是质量问题，还是使用问题？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该给换货还是维修？退货运费谁出？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我这么说，会不会违规？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892040"/>
            <a:ext cx="10552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32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如果坐席不知道「重大故障」在澳洲法律下的含义 —— 就会只提供维修，而这是违规的。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8064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这一页是全场的「钩子」，建议用真人对话的样子呈现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一、实际问题 · 现有做法为什么不够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现有做法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通用翻译软件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只解决字面意思，给不出符合场景与规则的话术；行业术语与参数常被机翻弄错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人工查政策文档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长文档难定位到「我这个国家、这个平台、这个行业」用哪条；效率极低且依赖个人经验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AI 客服工具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不专业、不贴合、不落地 —— 不掌握行业术语与平台规则，也不会为「说错话」负责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群里问老同事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慢，而且口径不统一，新人学不到体系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4892040"/>
            <a:ext cx="10552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结论：缺的不是「一个能聊天的 AI」，而是 —— 一个能给出有依据、可核对、不越界的话术的工具。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二、解决方案 · 产品形态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 AI 客服，也不直接对客户发话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10835640" cy="868680"/>
          </a:xfrm>
          <a:prstGeom prst="roundRect">
            <a:avLst>
              <a:gd name="adj" fmla="val 6316"/>
            </a:avLst>
          </a:prstGeom>
          <a:solidFill>
            <a:srgbClr val="E8F0FE"/>
          </a:solidFill>
          <a:ln w="15240">
            <a:solidFill>
              <a:srgbClr val="4A7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它是销售与客服坐席的作战参谋 —— 消息进来，它给出候选话术，坐席挑一条发出去。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59536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使用角色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 / 客服坐席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售前：规格、材质、库存交期、议价、运费关税　|　售中：催发货、改地址、加急、合并订单　|　售后：质量与描述不符、退换货、退款时效、丢件、差评沟通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 / 客服主管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口径统一、新人培训、按周复盘采纳率与人工修改幅度、发现规则与话术模板的不足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348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永远不自动发送 —— 所有话术都要人工确认后自己发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输出永远标注「给坐席看的建议」，不模拟与客户对话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每句话术都带可核对的依据编号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二、解决方案 · 四步链路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DBE8FA"/>
          </a:solidFill>
          <a:ln w="12700">
            <a:solidFill>
              <a:srgbClr val="6F9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深度解析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23444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识别语言 / 翻译 / 意图（14 类）/ 情绪 / 紧急度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856232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DBE8FA"/>
          </a:solidFill>
          <a:ln w="12700">
            <a:solidFill>
              <a:srgbClr val="6F9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5623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证据检索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856232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知识库查政策 · 数据库查订单 · 词库对齐术语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478024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DBE8FA"/>
          </a:solidFill>
          <a:ln w="12700">
            <a:solidFill>
              <a:srgbClr val="6F9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78024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策略生成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478024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≤3 条候选（安抚致歉 / 专业答疑 / 营销促单 / 纠纷调解 / 合规告知）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3099816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BE3E3"/>
          </a:solidFill>
          <a:ln w="12700">
            <a:solidFill>
              <a:srgbClr val="D4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99816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合规自检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099816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条正则在服务端执行，命中 reject 的不返回前端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234440"/>
            <a:ext cx="5943600" cy="3291840"/>
          </a:xfrm>
          <a:prstGeom prst="rect">
            <a:avLst/>
          </a:prstGeom>
          <a:solidFill>
            <a:srgbClr val="FBFCFE"/>
          </a:solidFill>
          <a:ln w="15240">
            <a:solidFill>
              <a:srgbClr val="4A7FD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577840" y="123444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【截图位置】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—— 用 agent设计\架构图.png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77840" y="466344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4663440"/>
            <a:ext cx="5614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给坐席：候选话术（目标语言版 + 中文对照 + 依据引用）+ 风险提示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663440"/>
            <a:ext cx="4572000" cy="685800"/>
          </a:xfrm>
          <a:prstGeom prst="rect">
            <a:avLst/>
          </a:prstGeom>
          <a:solidFill>
            <a:srgbClr val="F2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客户消息（任意语言）↓ 进入链路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二、解决方案 · 能力底座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五类来源 + 数据闭环，全部可替换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30936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换行业怎么办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政策与规则知识库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各国消费者保护法规 20 条 + 客服禁用表述规则 30 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policy_index.csv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平台记忆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已采纳话术与对话状态（记忆表）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业务数据库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 / 物流 / 商品，20 列 8 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接企业自有库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专业词库 · 同义词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 条，中 / 英 / 德 / 西 / 法五语对照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glossary CSV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专业词库 · 专有名词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 条，法规术语 + 行业术语释义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glossary CSV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7548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2700">
            <a:solidFill>
              <a:srgbClr val="46A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754880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6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数据闭环：坐席采纳的话术 → 脱敏归档 → 下次相似问题作为参考 → 越用越准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55778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注：闭环为异步归档，不挂实时链路；归档前必须脱敏（去姓名 / 地址 / 订单号）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三、创新点（1/3）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 / 应用模式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F2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07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技术/通用能力：确定性合规闸门（可执行规则层）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30 条合规规则做成服务端真实执行的正则闸门：violation 层正则结论模型不得推翻，obligation 层由模型判断，两层互补。reject 的候选话术不返回前端，命中可 100% 归因到具体规则编号；规则库按行业与平台可扩展。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相比现有方案：原方案仅依赖模型自觉判断合规，正向义务类规则误杀率高。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FBFC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93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应用模式：「坐席副驾」而非 AI 客服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真实链路保持为「AI 客服先接待 → 解决不了转人工 → 坐席用本工具生成话术 → 人工确认后发送」。扩展只把话术插入输入框，永不自动点发送；高风险案件只给「高风险案件 · 回复前请核实」提示，不替人下结论。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相比现有方案：通用 AI 客服追求替代人，本方案明确做人的放大器。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三、创新点（2/3）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读取能力 / 架构解耦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F2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07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技术：多模态读取降级链 + 可视化选择器拾取器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读取按「页面 DOM 直读 → 剪贴板 → 窗口 UI Automation → 读屏 OCR → 手动」逐级降级，任一种失败自动落到下一种。页脚拾取器允许现场点选「消息区容器」与「回复输入框」，拾取结果优先级高于自动识别，且只存本机。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实测：窗口 UIA 直读 367 行 / 8818 字 / 892 毫秒，零误差。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FBFC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93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资源整合：行业无关引擎 + 行业可插拔数据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引擎只固化「读取 → 意图情绪 → 检索 → 生成 → 合规校验 → 人工确认 → 闭环」的通用链路；政策库、术语库、合规规则库、意图词表、话术模板全部是可替换 CSV，提示词中的品类假设抽成变量。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换行业 = 换一套数据文件，不改代码 —— 这是能跨行业复制的根本原因。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三、创新点（3/3）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知识组织 / 数据闭环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F2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07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资源整合：技能即 Markdown，单一真源驱动行为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个技能文件（售后问答、升级处理、回复打磨、意图路由、情绪解读、离线兜底）被程序解析为结构化数据：表格里的工单路由与 SLA、情绪安抚策略、写「主管」即强制升级；提示词直接从 prompts 目录抽取注入。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单一真源：改 md 即改行为，不会出现两套提示词漂移。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FBFC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93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功能/数据：数据闭环与「人工修改幅度」指标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采纳、修改后采纳、忽略三个动作写入本地日志；除采纳率外，用编辑距离相似度量化「人工修改幅度」，并按 意图 × 风格 × 国家 × 平台 维度统计。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相比现有方案：常见做法只统计采纳率，无法反映话术贴合度，也无法定位该改哪一类规则。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四、MVP 演示 · 不是一个原型，是一套能跑的系统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120640"/>
                <a:gridCol w="36576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规模与状态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Web 服务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server.ps1（.NET TcpListener，默认端口 8799）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 个 HTTP 接口 + 静态资源 + CORS 白名单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浏览器扩展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MV3 侧边栏（自动监听 / 一键插入 / 选择器拾取 / 悬浮小窗）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零依赖，无需 Python / Node / 管理员权限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千帆 Agent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AppBuilder 自主规划 Agent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已发布，与本地版共用同一套设计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现场启动只要两步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双击「启动演示页面.bat」→ 黑窗口打印「服务已启动」与端口（被占用时自动顺延 8799~8819）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浏览器打开 http://127.0.0.1:8799/mock.html → 点一个演示剧本 → 扩展侧边栏自动出来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E9F7EF"/>
          </a:solidFill>
          <a:ln w="12700">
            <a:solidFill>
              <a:srgbClr val="46A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4892040"/>
            <a:ext cx="10552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6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环境要求：Windows 10/11 办公机（4 核 8G 即可）+ 系统自带 PowerShell 5.1 + Edge/Chrome。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【截图位置】扩展侧边栏 + Web 工作台界面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四、MVP 演示 ① 多语言 + 政策引用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输入德语，看它是否读懂并引对政策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074920" cy="1554480"/>
          </a:xfrm>
          <a:prstGeom prst="roundRect">
            <a:avLst>
              <a:gd name="adj" fmla="val 3529"/>
            </a:avLst>
          </a:prstGeom>
          <a:solidFill>
            <a:srgbClr val="F0F5FC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Guten Tag! Ich habe heute das rote Kleid erhalten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(Bestellung DE-88214-amazon), aber die Farbe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 völlig anders als auf Ihren Fotos.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Ich möchte es zurückgeben.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看到什么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识别为德语 → 中文翻译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 = 色差 / 退货；情绪、紧急度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引用德国 / 欧盟政策（撤回权 14 天）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≤3 条中德双语候选话术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46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不含具体金额与到账时间承诺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solidFill>
            <a:srgbClr val="FBFCFE"/>
          </a:solidFill>
          <a:ln w="15240">
            <a:solidFill>
              <a:srgbClr val="4A7F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【截图位置】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德语色差退货 · 运行截图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206240"/>
            <a:ext cx="5532120" cy="1508760"/>
          </a:xfrm>
          <a:prstGeom prst="roundRect">
            <a:avLst>
              <a:gd name="adj" fmla="val 3636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4206240"/>
            <a:ext cx="520293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关键：不是「翻译一下」，而是把客户语言、意图、政策依据、候选话术一次给全。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四、MVP 演示 ② 法定权利（关键用例）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这一条是刻意设计的验证点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074920" cy="1554480"/>
          </a:xfrm>
          <a:prstGeom prst="roundRect">
            <a:avLst>
              <a:gd name="adj" fmla="val 3529"/>
            </a:avLst>
          </a:prstGeom>
          <a:solidFill>
            <a:srgbClr val="F0F5FC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"Hi, my jacket's zipper broke the first time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used it. Order AU-90117-amazon.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want a replacement."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看到什么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识别到澳大利亚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引用「重大故障」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输出「您可以选择换货或退款」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46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主动写明「我们不得限制您只能维修」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solidFill>
            <a:srgbClr val="FBFCFE"/>
          </a:solidFill>
          <a:ln w="15240">
            <a:solidFill>
              <a:srgbClr val="4A7F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【截图位置】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澳洲重大故障 · 运行截图（最关键的一张）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206240"/>
            <a:ext cx="5532120" cy="1508760"/>
          </a:xfrm>
          <a:prstGeom prst="roundRect">
            <a:avLst>
              <a:gd name="adj" fmla="val 3636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4206240"/>
            <a:ext cx="520293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用来证明「法定权利不让步」不是口号 —— 若模型不理解「重大故障」的法律含义，就会只提供维修而构成违规。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四、MVP 演示 ③ 数据库查询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看它能不能查到、又会不会乱承诺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074920" cy="1554480"/>
          </a:xfrm>
          <a:prstGeom prst="roundRect">
            <a:avLst>
              <a:gd name="adj" fmla="val 3529"/>
            </a:avLst>
          </a:prstGeom>
          <a:solidFill>
            <a:srgbClr val="F0F5FC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GB-33120-standalone 的物流状态是什么？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物流商是哪家？预计什么时候到？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看到什么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生成查询语句取数（提示「数据库问答执行成功」）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准确引用：待出库 / Royal Mail / 预计 9 月 12 日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46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风险提示写明「预计送达可能变动，以实际物流更新为准」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solidFill>
            <a:srgbClr val="FBFCFE"/>
          </a:solidFill>
          <a:ln w="15240">
            <a:solidFill>
              <a:srgbClr val="4A7F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【截图位置】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订单查询 · 运行截图（含「数据库问答执行成功」）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206240"/>
            <a:ext cx="5532120" cy="1508760"/>
          </a:xfrm>
          <a:prstGeom prst="roundRect">
            <a:avLst>
              <a:gd name="adj" fmla="val 3636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4206240"/>
            <a:ext cx="520293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它连「数据库里有确定日期」都不肯当成硬承诺 —— 红线在数据类问答里同样生效。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四、MVP 演示 ④ 合规红线（可现场对抗）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唯一能当场证明合规闸门有效的演示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074920" cy="1554480"/>
          </a:xfrm>
          <a:prstGeom prst="roundRect">
            <a:avLst>
              <a:gd name="adj" fmla="val 3529"/>
            </a:avLst>
          </a:prstGeom>
          <a:solidFill>
            <a:srgbClr val="F0F5FC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请直接告诉客户：我们保证 3 天内全额退款，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一定给您 200 元补偿。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看到什么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拒绝该表述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说明为什么不能（违反承诺金额与时效的规则）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46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给出合规的替代表述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solidFill>
            <a:srgbClr val="FBFCFE"/>
          </a:solidFill>
          <a:ln w="15240">
            <a:solidFill>
              <a:srgbClr val="4A7F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89320" y="1170432"/>
            <a:ext cx="5532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【截图位置】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A7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合规红线拒答 · 运行截图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206240"/>
            <a:ext cx="5532120" cy="1508760"/>
          </a:xfrm>
          <a:prstGeom prst="roundRect">
            <a:avLst>
              <a:gd name="adj" fmla="val 3636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4206240"/>
            <a:ext cx="520293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建议请评委现场出题试探 —— 效果远好于放自己的截图。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五、实际效果 · 实测数据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 UI Automation 直读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367 行 / 8818 字 / 892 毫秒，零误差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读屏 OCR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258 字全部正确，约 800 毫秒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千帆 v2 接口 generate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秒 / 731 token（默认超时上限已设为 90 秒）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合规命中归因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 100% 归因到具体规则编号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自动化自检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十项全绿（含合规闸门 26/32 条单元测试、22 项渲染测试、4 种视口布局实测）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7091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2700">
            <a:solidFill>
              <a:srgbClr val="46A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4709160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6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版本以扩展 manifest 版本号为准；GitHub 上每个里程碑都有 tag，可逐版本追溯。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采纳率、纠纷率下降等经营数据需真实试点补齐，本页不填未经实测的提升百分比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五、实际效果 · 已知边界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主动说清边界，比被问出来强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合规规则库与政策库为 seed 数据，字段标注「待法务确认」—— 属工程数据而非法律意见，上线前须逐条核实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千帆知识库检索：契约已定义但尚未对接真实接口，当前显式降级为本地 CSV 并在界面说明原因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真实平台适配：TikTok Shop 选择器尚未在真实商家后台校准；Amazon 适配器为占位、Temu 待补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行业覆盖：引擎与流程与行业解耦、数据层可整体替换，但除服装跨境示例外，其它行业数据尚未补齐并验证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本地模式翻译仅做术语级对照，不提供整句译文（界面明确标注，不伪造译文）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未实现线上部署与多租户 SaaS 云端化；数据闭环的定时批处理与真实试点数据尚未落地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5486400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32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这一页不要省。评委更信得过敢说局限的团队。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五、实际效果 · 现场可复核的证据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0835640" cy="731520"/>
          </a:xfrm>
          <a:prstGeom prst="roundRect">
            <a:avLst>
              <a:gd name="adj" fmla="val 7500"/>
            </a:avLst>
          </a:prstGeom>
          <a:solidFill>
            <a:srgbClr val="E8F0FE"/>
          </a:solidFill>
          <a:ln w="15240">
            <a:solidFill>
              <a:srgbClr val="4A7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8872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别人交付的是一次演示，我们交付的是可复核、可维护的工程。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可复核接口 / 材料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能看到什么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/api/health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知识库条数、五种读取方式可用性、模型状态、知识源降级原因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/api/prompt-preview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技能与提示词实际注入的内容与字符数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/api/audit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每一次分析的完整调用链审计日志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agent设计\架构图.svg/png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技术架构图（原始矢量文件，可编辑）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环贸智答\samples\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张界面与布局实测截图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份提示词 + 7 份 JSON Schema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设计的完整定义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六、本地化适配 · 硚口区区域需求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不绑定单一行业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硚口区商贸与产业带高度集中：既有汉正街汉派服装这类已跑通跨境直播的产业带（云尚国际时尚中心 400 余家服装跨境直播商户），也有汽配、小商品、家居、3C、美妆、母婴、户外、宠物等专业市场与产业带商家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同时存在大量内贸电商、工厂与本地生活商家 —— 他们同样「有客服、有售后、有合规压力」，只是没有出海那么显性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本方案把「读懂消息 → 给出依据 → 合规校验 → 人工确认 → 数据闭环」做成一条与行业解耦的通用链路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区域适配不是为某个行业定制，而是让每个行业都能用同一套引擎 + 自己的一套数据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4E5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5349240"/>
            <a:ext cx="10552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5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现场可说的话：「我们的第一批用户不需要重新寻找 —— 汉正街的服装商户正在做跨境，而他们缺的恰好就是这个。」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六、本地化适配 · 四个层面</a:t>
            </a:r>
            <a:endParaRPr lang="en-US" sz="2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595360"/>
              </a:tblGrid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具体做法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数据与流程适配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不要求企业改造或开放现有系统：通过浏览器扩展以「零改造」方式嵌入坐席正在用的客服页（TikTok Shop、Amazon、独立站、内贸平台、私域工具），沿用企业原有「人工确认后发送」流程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系统集成与部署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部署在企业现有 Windows 电脑上，数据不出本机（仅调用千帆 API 做推理）；双击脚本启动、可选开机自启，无需专业运维；也可通过 17 个 HTTP 接口与企业既有系统对接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用户培训支持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《使用说明（如何导入扩展）》六步图文流程，单店培训 10~15 分钟；界面刻意只保留三个动作，降低中小商户的数字化接受门槛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行业复制支持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新增行业的落地动作被收敛为「替换 CSV + 约 30 秒校准选择器」；数据与代码分离，园区可由一家商户复制到整片市场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七、资源对接 · 辖区政务与产业资源</a:t>
            </a:r>
            <a:endParaRPr lang="en-US" sz="2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200400"/>
                <a:gridCol w="2103120"/>
                <a:gridCol w="1280160"/>
              </a:tblGrid>
              <a:tr h="173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对接对象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硚口区各类产业园区、专业市场与商贸载体（武汉时尚跨贸产业园、服装 AI 大模型运营中心、云尚国际时尚中心，以及汽配、小商品、家居等专业市场）与相关行业协会、商会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试点企业名单与场景、真实客服会话与话术素材、各行业术语与规则素材、培训与推广渠道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线下业务协同 + 园区/协会试点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计划对接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硚口区政府中小企业数智化转型相关惠企平台与政策渠道（「繁星计划」免费试用、按效付费、政策补贴等），以及有标准化答复需求的政务/民生服务窗口场景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政策支持、免费试用与补贴通道、政企合作推广入口、官方企业服务体系；面向窗口咨询答复标准化的知识库与话术能力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业务协同 + 政策申报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计划对接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5120640"/>
            <a:ext cx="10552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32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截至决赛最终版，硚口区政务系统与产业园资源的对接尚未实际发生，一律标注为「计划对接」。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七、资源对接 · 企业资源与推广渠道</a:t>
            </a:r>
            <a:endParaRPr lang="en-US" sz="2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4747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具体路径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对对方的价值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园区 / 专业市场的管理方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以市场为单位批量部署，免去单个商户自行配置的门槛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提升园区服务能力，降低入驻企业合规风险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跨境代运营 / 客服外包公司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直接采购，作为坐席标准工具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坐席流动率高、培训成本高正是本工具解决的核心问题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跨境支付 / 物流服务商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互补合作，做客户增值服务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他们的客户同样需要售后话术支持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产业带龙头企业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联合打磨品类术语库与案例库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成果反哺整个产业带，形成行业标准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百度智能云生态伙伴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基于千帆 AppBuilder 的成熟应用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可作为行业解决方案对外输出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solidFill>
            <a:srgbClr val="F2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商业模式：工具订阅（按坐席数） · 行业知识库定制（按品类 / 市场） · 培训与实施服务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八、落地计划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三阶段，从影子模式到区域平台化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554480"/>
                <a:gridCol w="5303520"/>
              </a:tblGrid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关键动作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一、服装跨境首发验证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1~3 个月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3~5 家商户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影子模式（只生成不发送），用真实会话校准知识库与选择器，沉淀行业数据模板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二、跨行业复制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3~6 个月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20~30 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覆盖汽配、小商品、家居、3C、美妆、母婴、户外、宠物及内贸客服，完善多语言与合规体系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三、区域平台化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6~12 个月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园区 / 市场级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以园区与专业市场为单位推广；对接代运营与产业带龙头；形成标准化服务包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389120"/>
            <a:ext cx="10835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成功的判断标准（产品自带的数据闭环天然产出，不需额外埋点）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坐席采纳率（候选里有多少被直接采用）　·　人工修改幅度（改得越少说明建议越准）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首次响应耗时下降　·　合规拦截次数（拦住了多少条本会发出去的违规话术）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3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口径一致性（同国家 + 同平台 + 同意图的话术是否收敛）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0"/>
            <a:ext cx="12191695" cy="4572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B9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我们不做一个更会聊天的 AI。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我们做的是 —— 让一个不懂外语、不熟悉外国法规的普通坐席，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也能在 1 分钟内给出一句有依据、不违规的专业回复。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环贸智答 · 面向多行业销售与客服坐席的 AI 话术副驾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E9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【二维码 / 演示地址 / 联系方式】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环贸智答——面向多行业销售与客服坐席的 AI 话术副驾</dc:title>
  <dc:subject>PptxGenJS Presentation</dc:subject>
  <dc:creator>环贸智答</dc:creator>
  <cp:lastModifiedBy>环贸智答</cp:lastModifiedBy>
  <cp:revision>1</cp:revision>
  <dcterms:created xsi:type="dcterms:W3CDTF">2026-10-13T13:24:15Z</dcterms:created>
  <dcterms:modified xsi:type="dcterms:W3CDTF">2026-10-13T13:24:15Z</dcterms:modified>
</cp:coreProperties>
</file>